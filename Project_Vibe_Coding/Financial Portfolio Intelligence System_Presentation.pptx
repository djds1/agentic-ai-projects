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P&amp;L (USD)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Jan 2026</c:v>
                  </c:pt>
                  <c:pt idx="1">
                    <c:v>Feb 2026</c:v>
                  </c:pt>
                  <c:pt idx="2">
                    <c:v>Mar 2026</c:v>
                  </c:pt>
                  <c:pt idx="3">
                    <c:v>Apr 2026</c:v>
                  </c:pt>
                  <c:pt idx="4">
                    <c:v>May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3975</c:v>
                </c:pt>
                <c:pt idx="1">
                  <c:v>14411</c:v>
                </c:pt>
                <c:pt idx="2">
                  <c:v>20253</c:v>
                </c:pt>
                <c:pt idx="3">
                  <c:v>6234</c:v>
                </c:pt>
                <c:pt idx="4">
                  <c:v>33458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4A3B8"/>
                    </a:solidFill>
                    <a:latin typeface="Arial"/>
                  </a:rPr>
                  <a:t>P&amp;L (USD)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A complete US futures trading intelligence system built in one afternoon using 3 natural language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slide. 6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10 contracts, 3 timeframes, multiple indicators, daily decisions. A manual analyst would need hours each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manual coding, no data imports. Natural language only. Each prompt triggered clarifying questions, live web searches, and code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never assumed. It asked first. The clarifying questions step separates useful AI output from generic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PDF. Scroll page 1. Zoom on bias scorecard — a trader decides in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HTML dashboard. Click each tab. Show trade log filter demo — filter YM LOSS trades.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test: if the strategy only works in best-case scenarios it cannot be trusted with real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results. Pause on ROI vs Win Rate contrast. 32.5% wins, 78% ROI — that is the core 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YM and SI are D-grade — review/pause. NG and ES are A-grade stars. This drives capital reallocation.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slide. Let the equation land. Audience leaves understanding win rate alone does not determine profitability.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 slow (cold streak). Feb/Mar surged. Apr steady. May was best month — equity ATH + NG storage deficit trades.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Transferable takeaways applicable to anyone building AI-powered analytical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Repeatable daily loop. Each step has a defined action — no ambiguity in the morning rush.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4 deliverables. The 3 prompts are in the Google Doc — anyone can replicate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943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FUTURES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SYSTEM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487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(AI)  |  Cowork Mode  |  3 Prompts  |  1 Afternoon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192024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127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3017520"/>
            <a:ext cx="192024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127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&gt;20%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Target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3017520"/>
            <a:ext cx="192024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127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3017520"/>
            <a:ext cx="192024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127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46177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May 31, 2026  |  Contracts: ES · NQ · YM · GC · SI · CL · NG · ZB · ZN · ZF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2062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96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· 10 contracts · &gt;20% ROI goal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2062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9456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 Process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 · questions first · live search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42062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84448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75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059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407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PDF · bias scorecard · risk sizing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804672"/>
            <a:ext cx="42062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804672"/>
            <a:ext cx="6400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896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83480" y="1280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curve · trade log · scorecards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194560"/>
            <a:ext cx="42062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194560"/>
            <a:ext cx="64008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83480" y="2670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 win rate → +78% ROI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84448"/>
            <a:ext cx="42062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84448"/>
            <a:ext cx="64008" cy="1234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75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983480" y="4059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Next Steps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83480" y="4407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· limitations · daily use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114800" cy="36576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411480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04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98448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futures contracts across 4 sectors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Weekly &amp; Daily timeframes to monitor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 Moving Averages, Volume/OI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 at 1-2% risk on $100K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pre-market decisions before 9:30 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&gt;20% annual ROI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023360" cy="36576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804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TRADED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19472" y="1353312"/>
            <a:ext cx="36576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353312"/>
            <a:ext cx="54864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14081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84064" y="16824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  ·  NQ  ·  YM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19472" y="2194560"/>
            <a:ext cx="36576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2194560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224942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84064" y="2523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  ·  SI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19472" y="3035808"/>
            <a:ext cx="36576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3035808"/>
            <a:ext cx="54864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30906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4064" y="3364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  ·  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19472" y="3877056"/>
            <a:ext cx="36576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3877056"/>
            <a:ext cx="54864" cy="6949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393192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84064" y="4206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ZB  ·  ZN  ·  ZF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3 PROMPTS — NO MANUAL CODING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4572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9144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Analysis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128016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an expert financial analyst, analyze the US financial markets and probability of success in going long or short... I need a ROI of more than 20%."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3856" y="171907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3-page PDF report  |  Bias scorecard  |  Risk sizing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841248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12848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04288"/>
            <a:ext cx="457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042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3856" y="230428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 &amp; Trade 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267004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dashboard based on the simulation... state of the art Portfolio monitoring and ROI monitoring with capability to link to trading logs..."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" y="310896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5-page HTML dashboard  |  194-trade YTD simulation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02736"/>
            <a:ext cx="841248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02736"/>
            <a:ext cx="6400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94176"/>
            <a:ext cx="45720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941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3856" y="36941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3856" y="405993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Google Doc explaining what you built. Include project overview, datasets, prompts used during vibe coding, iterations, and learnings."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" y="449884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Full project doc uploaded directly to Google Drive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AI BUILT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155448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9144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CLARIFY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1371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4 questions before any code. Contracts? Indicators? Risk %? Format? Simulation method?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48256" y="804672"/>
            <a:ext cx="155448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51176" y="9144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1176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21408" y="15727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39696" y="1993392"/>
            <a:ext cx="1371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parallel live web searches: equities, metals, crude oil, NG, Treasury yields, macro environment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0752" y="804672"/>
            <a:ext cx="155448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33672" y="9144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03904" y="15727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22192" y="1993392"/>
            <a:ext cx="1371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technical analysis across Monthly / Weekly / Daily timeframes for all 10 contracts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13248" y="804672"/>
            <a:ext cx="155448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16168" y="91440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15727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04688" y="1993392"/>
            <a:ext cx="1371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Python ReportLab PDF + Markov simulation engine + Chart.js 5-page HTML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95744" y="804672"/>
            <a:ext cx="1554480" cy="40233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98664" y="91440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98664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68896" y="15727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87184" y="1993392"/>
            <a:ext cx="1371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18-point automated QA: all charts, filters, trade log calculations, and data integrity verified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time: ~1 afternoon  |  Manual equivalent: 3-5 days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DELIVERABLE 1: PRE-MARKET PDF REPORT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743200" cy="4114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2743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24505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environment snapshot (yields, Fed, PCE, geopolitical)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10-contract master bias scorecard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%, Short %, Conviction rating per contract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 table — 1% and 2% risk on $100K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804672"/>
            <a:ext cx="2743200" cy="4114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04672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1316736"/>
            <a:ext cx="24505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/ NQ / YM equity deep-dive analysis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/ SI metals technical analysis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crossovers, RSI, MACD, Volume per contract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support, resistance, and pivot levels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804672"/>
            <a:ext cx="2743200" cy="4114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804672"/>
            <a:ext cx="27432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8046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1316736"/>
            <a:ext cx="24505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/ NG energy analysis with key drivers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 / ZN / ZF bond analysis with yield context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trade list ranked by R:R ratio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checklist + today's risk warnings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every morning  |  Fresh live data  |  Regenerated daily before 9:30 AM 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DELIVERABLE 2: INTERACTIVE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64008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05840"/>
            <a:ext cx="658368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35024" y="8961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89611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 cards · Equity curve · Drawdown chart · Cumulative ROI vs 20% target · Contract P&amp;L bar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841248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27632"/>
            <a:ext cx="6400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810512"/>
            <a:ext cx="65836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10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35024" y="17007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P&amp;L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70078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month cards · Monthly ROI vs 4% pace target · Win rate &amp; trade count chart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841248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32304"/>
            <a:ext cx="6400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615184"/>
            <a:ext cx="65836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151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35024" y="25054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250545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by contract · P&amp;L doughnut · Letter grade (A/B/C/D) · Action recommendations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36976"/>
            <a:ext cx="841248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36976"/>
            <a:ext cx="64008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19856"/>
            <a:ext cx="658368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19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35024" y="33101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Log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31012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trades · 5-column filter + keyword search · Sort any column · Running portfolio + ROI%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41648"/>
            <a:ext cx="8412480" cy="676656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041648"/>
            <a:ext cx="64008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224528"/>
            <a:ext cx="65836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224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35024" y="4114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Plan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411480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rules · Exit rules · Position sizing rules · 6 strategy review triggers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 |  Opens in any browser  |  No install required  |  120 KB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STRESS TEST SIMULATION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114800" cy="4114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411480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046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79476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325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2 - May 29,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719072"/>
            <a:ext cx="379476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64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764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157984"/>
            <a:ext cx="379476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03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2037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trades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596896"/>
            <a:ext cx="379476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42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6426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(stress test)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035808"/>
            <a:ext cx="379476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081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R:R Range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081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2.0:1 to 3.5:1 per trade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74720"/>
            <a:ext cx="379476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Per Trade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5204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1-2% of portfolio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913632"/>
            <a:ext cx="379476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59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9593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streak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352544"/>
            <a:ext cx="3794760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982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4398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2026 conditions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804672"/>
            <a:ext cx="4023360" cy="4114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804672"/>
            <a:ext cx="40233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8046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NARRATIVE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1335024"/>
            <a:ext cx="3749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1335024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13898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equities · gold rising · bond shorts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2029968"/>
            <a:ext cx="374904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2029968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2084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47488" y="23408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bull run · GC ATH · NG strength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2724912"/>
            <a:ext cx="3749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272491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47488" y="27797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47488" y="30358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correction · gold peak · CL weakness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3419856"/>
            <a:ext cx="374904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92040" y="341985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47488" y="34747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47488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correction · bond relief · GC top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92040" y="4114800"/>
            <a:ext cx="3749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4114800"/>
            <a:ext cx="54864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47488" y="4169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to ATH · Iran deal · NG deficit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STRESS TEST RESULTS — YTD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509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$178,331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38912" y="16093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93852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Started: $100,000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04672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9509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+78.33%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587752" y="16093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7752" y="193852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&gt;20%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04672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04672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9509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32.5%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736592" y="16093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193852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40% stress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804672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804672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9509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2.73:1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885432" y="16093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R:R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193852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 $4,285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65176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79806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1.41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438912" y="34564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Factor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" y="3785616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&gt;1.2 = profitable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2651760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14600" y="265176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87752" y="279806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-9.82%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2587752" y="34564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87752" y="3785616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$9,820 peak-to-trough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51760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651760"/>
            <a:ext cx="19202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279806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194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4736592" y="34564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36592" y="3785616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 per day avg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12280" y="2651760"/>
            <a:ext cx="1920240" cy="16642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12280" y="265176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85432" y="279806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$4,285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6885432" y="34564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85432" y="3785616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$1,568 avg loss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ROI TARGET ACHIEVED — even at only 32.5% win rate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CONTRACT PERFORMANCE SCORECARD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777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22960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3000" y="822960"/>
            <a:ext cx="777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822960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822960"/>
            <a:ext cx="594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822960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822960"/>
            <a:ext cx="8686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82296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822960"/>
            <a:ext cx="960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822960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P&amp;L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822960"/>
            <a:ext cx="594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822960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822960"/>
            <a:ext cx="3291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822960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207008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207008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1207008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1207008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1207008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7672" y="1207008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1207008"/>
            <a:ext cx="86868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1207008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1207008"/>
            <a:ext cx="9601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120700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+$26,684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1207008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1207008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207008"/>
            <a:ext cx="32918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120700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Trading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1600200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160020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43000" y="1600200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0432" y="160020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20240" y="1600200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47672" y="1600200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14600" y="1600200"/>
            <a:ext cx="8686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42032" y="1600200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1600200"/>
            <a:ext cx="9601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160020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+$23,021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43400" y="1600200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1600200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937760" y="1600200"/>
            <a:ext cx="32918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160020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Trading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1993392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" y="1993392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43000" y="1993392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1993392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920240" y="1993392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47672" y="1993392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14600" y="1993392"/>
            <a:ext cx="86868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1993392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383280" y="1993392"/>
            <a:ext cx="9601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0712" y="1993392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+$17,523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343400" y="1993392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1993392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937760" y="1993392"/>
            <a:ext cx="32918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92624" y="199339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Trading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2386584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3192" y="2386584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43000" y="2386584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70432" y="2386584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920240" y="2386584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47672" y="2386584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514600" y="2386584"/>
            <a:ext cx="8686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42032" y="2386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383280" y="2386584"/>
            <a:ext cx="9601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10712" y="2386584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+$10,790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343400" y="2386584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2386584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937760" y="2386584"/>
            <a:ext cx="32918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92624" y="238658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Trading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2779776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3192" y="2779776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143000" y="2779776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70432" y="2779776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920240" y="2779776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47672" y="2779776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514600" y="2779776"/>
            <a:ext cx="86868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42032" y="2779776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383280" y="2779776"/>
            <a:ext cx="9601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10712" y="2779776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+$5,402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343400" y="2779776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70832" y="2779776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4937760" y="2779776"/>
            <a:ext cx="32918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92624" y="277977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Size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65760" y="3172968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3192" y="3172968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143000" y="3172968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70432" y="3172968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920240" y="3172968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47672" y="3172968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514600" y="3172968"/>
            <a:ext cx="8686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42032" y="3172968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383280" y="3172968"/>
            <a:ext cx="9601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10712" y="317296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+$4,464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4343400" y="3172968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70832" y="3172968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4937760" y="3172968"/>
            <a:ext cx="32918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92624" y="31729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Size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65760" y="3566160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35661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143000" y="3566160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170432" y="35661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1920240" y="3566160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947672" y="3566160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2514600" y="3566160"/>
            <a:ext cx="86868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42032" y="3566160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3383280" y="3566160"/>
            <a:ext cx="9601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10712" y="356616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+$5,045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343400" y="3566160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370832" y="3566160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4937760" y="3566160"/>
            <a:ext cx="32918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992624" y="356616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(small)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65760" y="3959352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93192" y="3959352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1143000" y="3959352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70432" y="3959352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1920240" y="3959352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947672" y="3959352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514600" y="3959352"/>
            <a:ext cx="8686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542032" y="3959352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3383280" y="3959352"/>
            <a:ext cx="9601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410712" y="3959352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-$5,410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4343400" y="3959352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370832" y="3959352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4937760" y="3959352"/>
            <a:ext cx="32918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992624" y="395935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Pause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365760" y="4352544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93192" y="4352544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143000" y="4352544"/>
            <a:ext cx="7772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70432" y="4352544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920240" y="4352544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947672" y="4352544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2514600" y="4352544"/>
            <a:ext cx="86868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542032" y="435254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3383280" y="4352544"/>
            <a:ext cx="9601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410712" y="4352544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-$9,188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4343400" y="4352544"/>
            <a:ext cx="594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370832" y="4352544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4937760" y="4352544"/>
            <a:ext cx="32918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992624" y="435254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Pause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365760" y="4745736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93192" y="4745736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1143000" y="4745736"/>
            <a:ext cx="7772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170432" y="4745736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1920240" y="4745736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947672" y="4745736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2514600" y="4745736"/>
            <a:ext cx="8686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542032" y="4745736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3383280" y="4745736"/>
            <a:ext cx="9601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410712" y="4745736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4343400" y="4745736"/>
            <a:ext cx="5943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370832" y="4745736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4937760" y="4745736"/>
            <a:ext cx="32918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992624" y="474573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trades — monitor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16916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77824"/>
            <a:ext cx="228600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961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0972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83280" y="877824"/>
            <a:ext cx="228600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8961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2.73:1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83280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: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10972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63640" y="877824"/>
            <a:ext cx="237744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89611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+78%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63640" y="1847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51760"/>
            <a:ext cx="6400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06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win most of the time.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 win rate. Portfolio nearly doubled. Reward-to-risk drives profitability, not win rate.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841248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01568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564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is a misleading metric.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721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per trade = (Win% x Avg Win) - (Loss% x Avg Loss). That's the real number.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841248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51376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06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validates the framework.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4714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survived significantly worse conditions than targeted. Builds confidence for real capital.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P&amp;L  vs  20% ANNUAL TARGET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804672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41248"/>
            <a:ext cx="283464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841248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89611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29400" y="896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+3.98%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188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trades  WR 30.6%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0" y="1600200"/>
            <a:ext cx="283464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160020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6550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16550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+13.86%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80760" y="19476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trades  WR 35.1%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0" y="2359152"/>
            <a:ext cx="283464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0" y="2359152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29400" y="24140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+17.11%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080760" y="27066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trades  WR 30.8%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0" y="3118104"/>
            <a:ext cx="283464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0" y="311810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1729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29400" y="3172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+4.50%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080760" y="34655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trades  WR 26.8%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943600" y="3877056"/>
            <a:ext cx="283464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43600" y="3877056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39319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29400" y="3931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+23.09%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080760" y="42245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trades  WR 39.0%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20% target hit by end of March — month 3 of 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LEARNINGS FROM THIS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20624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64008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14400"/>
            <a:ext cx="6858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14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914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First, Build Second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280160"/>
            <a:ext cx="3913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asked 4 questions before any code. The stress test choice changed the entire outcome. Without it, the system would have been built on wrong assumptions.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20624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22960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914400"/>
            <a:ext cx="6858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914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914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R:R Ratio Beats Win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1280160"/>
            <a:ext cx="3913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 wins x 2.73:1 R:R = +78% ROI. Traders obsessing over win rate are measuring the wrong thing. Expected value per trade is what compounds.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420624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40280"/>
            <a:ext cx="64008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331720"/>
            <a:ext cx="6858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317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Over Best Case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2697480"/>
            <a:ext cx="3913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at 40% win rate gave a framework trustworthy for real capital. A strategy that only works in good conditions is not a real strategy.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240280"/>
            <a:ext cx="420624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240280"/>
            <a:ext cx="64008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2331720"/>
            <a:ext cx="685800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3317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Contract-Level Divergence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2697480"/>
            <a:ext cx="3913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lost $9K while NG made $23K in the same portfolio. Sector-level thinking misses this. Per-contract grading with action rules is the right granularity.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420624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57600"/>
            <a:ext cx="64008" cy="1261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68580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25880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is Not a Backtest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" y="4114800"/>
            <a:ext cx="3913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slippage, spread, margin or gap fills modeled. Use it to test framework logic, not to predict exact P&amp;L. Real results will differ.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657600"/>
            <a:ext cx="4206240" cy="12618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657600"/>
            <a:ext cx="64008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3749040"/>
            <a:ext cx="6858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Replaced 3-5 Days of Work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65192" y="4114800"/>
            <a:ext cx="3913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Python, PDF, dashboard, documentation — one afternoon. For non-technical users, natural language is now a practical development alternative.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DAILY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877824"/>
            <a:ext cx="45720" cy="420624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969264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6926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877824"/>
            <a:ext cx="72237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93268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PDF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21615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for fresh pre-market analysis — new prices, new bias scores, new risk levels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" y="1682496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8249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1591056"/>
            <a:ext cx="72237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1640" y="16459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2-3 Setups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192938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conviction only · Confirm on 2+ timeframes · Set entry, stop, and 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9848" y="239572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395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4480" y="2304288"/>
            <a:ext cx="72237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235915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Economic Calendar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264261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trades within 30 minutes of major releases: NFP, CPI, EIA, Fed speakers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9848" y="3108960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10896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9:25 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3017520"/>
            <a:ext cx="72237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91640" y="3072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Pre-Open Check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335584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trades in first 5 minutes of session · Review overnight gap vs. prior close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69848" y="3822192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382219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POST-MKT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54480" y="3730752"/>
            <a:ext cx="72237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691640" y="378561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Trades in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91640" y="40690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trade log · Check equity curve · Review contract grades vs. trading plan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69848" y="4535424"/>
            <a:ext cx="365760" cy="3657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453542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54480" y="4443984"/>
            <a:ext cx="72237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691640" y="449884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91640" y="478231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&lt; 25% rolling? Drawdown &gt; 10%? Grade D for 2 months? — Adjust accordingly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50154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572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8458200" cy="8229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96112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097280"/>
            <a:ext cx="65836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987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PDF Report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13533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daily briefing · Bias scorecard · Risk table · Priority trades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883664"/>
            <a:ext cx="8458200" cy="8229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83664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084832"/>
            <a:ext cx="65836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848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98448" y="19751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HTML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2340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· Equity curve · 194-trade log · Contract grades (A-D) · Trading plan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8458200" cy="8229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71216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72384"/>
            <a:ext cx="658368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723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98448" y="29626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 Documentation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98448" y="3328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· Datasets · Iterations · Learnings · Full audit trail in Drive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8458200" cy="8229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58768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59936"/>
            <a:ext cx="65836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599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98448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Script &amp; Slides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98448" y="4315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walkthrough script + this PowerPoint deck — both in Google Drive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 |  Cowork Mode  |  3 Prompts  |  1 Afternoon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Futures Intelligence System</dc:title>
  <dc:subject>PptxGenJS Presentation</dc:subject>
  <dc:creator>PptxGenJS</dc:creator>
  <cp:lastModifiedBy>PptxGenJS</cp:lastModifiedBy>
  <cp:revision>1</cp:revision>
  <dcterms:created xsi:type="dcterms:W3CDTF">2026-05-31T13:59:55Z</dcterms:created>
  <dcterms:modified xsi:type="dcterms:W3CDTF">2026-05-31T13:59:55Z</dcterms:modified>
</cp:coreProperties>
</file>